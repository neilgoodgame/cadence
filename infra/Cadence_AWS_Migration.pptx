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160520"/>
            <a:ext cx="12191695" cy="381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Migrating Cadence to AWS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24612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C9D6E8"/>
                </a:solidFill>
                <a:latin typeface="Calibri"/>
              </a:rPr>
              <a:t>From a local Docker Compose stack to a cost-optimized production
cloud architecture, built and documented step by step with Terraform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126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FF9900"/>
                </a:solidFill>
                <a:latin typeface="Calibri"/>
              </a:rPr>
              <a:t>A worked example for developers new to AWS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457200" cy="4572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508760"/>
            <a:ext cx="8229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  <a:latin typeface="Calibri"/>
              </a:rPr>
              <a:t>What is Cadence?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11680"/>
            <a:ext cx="457200" cy="4572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57400"/>
            <a:ext cx="8229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  <a:latin typeface="Calibri"/>
              </a:rPr>
              <a:t>The local architecture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560320"/>
            <a:ext cx="457200" cy="4572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5603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606040"/>
            <a:ext cx="8229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  <a:latin typeface="Calibri"/>
              </a:rPr>
              <a:t>Introduction to AWS &amp; the services we used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108960"/>
            <a:ext cx="457200" cy="4572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1089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154680"/>
            <a:ext cx="8229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  <a:latin typeface="Calibri"/>
              </a:rPr>
              <a:t>Introduction to Terraform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657600"/>
            <a:ext cx="457200" cy="4572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6576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703320"/>
            <a:ext cx="8229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  <a:latin typeface="Calibri"/>
              </a:rPr>
              <a:t>The original migration (ECS Fargate)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206240"/>
            <a:ext cx="457200" cy="4572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20624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251960"/>
            <a:ext cx="8229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  <a:latin typeface="Calibri"/>
              </a:rPr>
              <a:t>What that architecture cost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754880"/>
            <a:ext cx="457200" cy="4572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7548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4800600"/>
            <a:ext cx="8229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  <a:latin typeface="Calibri"/>
              </a:rPr>
              <a:t>The final architecture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5303520"/>
            <a:ext cx="457200" cy="4572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3035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5349240"/>
            <a:ext cx="8229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  <a:latin typeface="Calibri"/>
              </a:rPr>
              <a:t>Cost comparison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5852160"/>
            <a:ext cx="457200" cy="4572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8521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0160" y="5897880"/>
            <a:ext cx="8229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  <a:latin typeface="Calibri"/>
              </a:rPr>
              <a:t>Glossary of AWS terms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60175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017520"/>
            <a:ext cx="12191695" cy="381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3657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 i="0">
                <a:solidFill>
                  <a:srgbClr val="FF9900"/>
                </a:solidFill>
                <a:latin typeface="Calibr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24612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What is Cadence?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06908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C9D6E8"/>
                </a:solidFill>
                <a:latin typeface="Calibri"/>
              </a:rPr>
              <a:t>A multi-sport training analytics platform for endurance athletes and coaches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60175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9900"/>
                </a:solidFill>
                <a:latin typeface="Calibri"/>
              </a:rPr>
              <a:t>WHAT IS CADENCE?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A1A1A"/>
                </a:solidFill>
                <a:latin typeface="Calibri"/>
              </a:rPr>
              <a:t>▸ A training analytics workspace for endurance athletes and coaches - think Strava/TrainingPeaks, self-hosted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A1A1A"/>
                </a:solidFill>
                <a:latin typeface="Calibri"/>
              </a:rPr>
              <a:t>▸ Ingests activity files (.fit / .gpx / .tcx, single or bulk .zip) from Garmin Connect, Zwift, and similar sources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A1A1A"/>
                </a:solidFill>
                <a:latin typeface="Calibri"/>
              </a:rPr>
              <a:t>▸ Parses them into a normalized data model and surfaces deep analysis:</a:t>
            </a:r>
          </a:p>
          <a:p>
            <a:pPr lvl="1">
              <a:spcAft>
                <a:spcPts val="1000"/>
              </a:spcAft>
            </a:pPr>
            <a:r>
              <a:rPr sz="1600" b="0">
                <a:solidFill>
                  <a:srgbClr val="5A5A5A"/>
                </a:solidFill>
                <a:latin typeface="Calibri"/>
              </a:rPr>
              <a:t>–  power/HR duration curves, time-in-zone, training load (fitness/fatigue/form)</a:t>
            </a:r>
          </a:p>
          <a:p>
            <a:pPr lvl="1">
              <a:spcAft>
                <a:spcPts val="1000"/>
              </a:spcAft>
            </a:pPr>
            <a:r>
              <a:rPr sz="1600" b="0">
                <a:solidFill>
                  <a:srgbClr val="5A5A5A"/>
                </a:solidFill>
                <a:latin typeface="Calibri"/>
              </a:rPr>
              <a:t>–  best efforts &amp; personal records, hydration tracking, gear wear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A1A1A"/>
                </a:solidFill>
                <a:latin typeface="Calibri"/>
              </a:rPr>
              <a:t>▸ Planning layer: designed workouts, scheduling, auto-matching completed activities to plans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A1A1A"/>
                </a:solidFill>
                <a:latin typeface="Calibri"/>
              </a:rPr>
              <a:t>▸ Multi-user: one account can both train and coach; owners grant Viewer or Coach access to others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60175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9900"/>
                </a:solidFill>
                <a:latin typeface="Calibri"/>
              </a:rPr>
              <a:t>WHAT IS CADENCE?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Two backends, one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5257800" cy="457200"/>
          </a:xfrm>
          <a:prstGeom prst="rect">
            <a:avLst/>
          </a:prstGeom>
          <a:solidFill>
            <a:srgbClr val="16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63040"/>
            <a:ext cx="4983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Django (Python)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11680"/>
            <a:ext cx="5166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1A1A1A"/>
                </a:solidFill>
                <a:latin typeface="Calibri"/>
              </a:rPr>
              <a:t>▸ Original implementation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A1A1A"/>
                </a:solidFill>
                <a:latin typeface="Calibri"/>
              </a:rPr>
              <a:t>▸ Django REST Framework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A1A1A"/>
                </a:solidFill>
                <a:latin typeface="Calibri"/>
              </a:rPr>
              <a:t>▸ Celery for background jobs (imports, recomputes)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5080" y="1371600"/>
            <a:ext cx="5257800" cy="457200"/>
          </a:xfrm>
          <a:prstGeom prst="rect">
            <a:avLst/>
          </a:prstGeom>
          <a:solidFill>
            <a:srgbClr val="16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463040"/>
            <a:ext cx="4983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Java (Spring Boot)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011680"/>
            <a:ext cx="5166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1A1A1A"/>
                </a:solidFill>
                <a:latin typeface="Calibri"/>
              </a:rPr>
              <a:t>▸ Second, independent implementation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A1A1A"/>
                </a:solidFill>
                <a:latin typeface="Calibri"/>
              </a:rPr>
              <a:t>▸ Same REST contract (OpenAPI, ~63 operations)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A1A1A"/>
                </a:solidFill>
                <a:latin typeface="Calibri"/>
              </a:rPr>
              <a:t>▸ Chosen for production/AWS: no separate worker fleet needed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0350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A5A5A"/>
                </a:solidFill>
                <a:latin typeface="Calibri"/>
              </a:rPr>
              <a:t>Both speak the same API contract and logical data model, but don't share a database - each runs its own Postgres.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60175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017520"/>
            <a:ext cx="12191695" cy="381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3657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 i="0">
                <a:solidFill>
                  <a:srgbClr val="FF9900"/>
                </a:solidFill>
                <a:latin typeface="Calibr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24612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The Local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06908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C9D6E8"/>
                </a:solidFill>
                <a:latin typeface="Calibri"/>
              </a:rPr>
              <a:t>What runs on a developer's laptop before any of this touches the cloud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60175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9900"/>
                </a:solidFill>
                <a:latin typeface="Calibri"/>
              </a:rPr>
              <a:t>LOCAL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Local development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698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1">
                <a:solidFill>
                  <a:srgbClr val="5A5A5A"/>
                </a:solidFill>
                <a:latin typeface="Calibri"/>
              </a:rPr>
              <a:t>docker compose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37760" y="1965960"/>
            <a:ext cx="2286000" cy="640080"/>
          </a:xfrm>
          <a:prstGeom prst="roundRect">
            <a:avLst>
              <a:gd name="adj" fmla="val 8000"/>
            </a:avLst>
          </a:prstGeom>
          <a:solidFill>
            <a:srgbClr val="8A8A8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Browser</a:t>
            </a:r>
          </a:p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localhost:5173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80760" y="2606040"/>
            <a:ext cx="0" cy="274320"/>
          </a:xfrm>
          <a:prstGeom prst="line">
            <a:avLst/>
          </a:prstGeom>
          <a:ln w="19050">
            <a:solidFill>
              <a:srgbClr val="8A8A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480560" y="2880360"/>
            <a:ext cx="3200400" cy="731520"/>
          </a:xfrm>
          <a:prstGeom prst="roundRect">
            <a:avLst>
              <a:gd name="adj" fmla="val 8000"/>
            </a:avLst>
          </a:prstGeom>
          <a:solidFill>
            <a:srgbClr val="2E5A9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React + TypeScript SPA</a:t>
            </a:r>
          </a:p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Vite, react-router, TanStack Query, D3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80760" y="3611880"/>
            <a:ext cx="0" cy="274320"/>
          </a:xfrm>
          <a:prstGeom prst="line">
            <a:avLst/>
          </a:prstGeom>
          <a:ln w="19050">
            <a:solidFill>
              <a:srgbClr val="8A8A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480560" y="3886200"/>
            <a:ext cx="3200400" cy="731520"/>
          </a:xfrm>
          <a:prstGeom prst="roundRect">
            <a:avLst>
              <a:gd name="adj" fmla="val 8000"/>
            </a:avLst>
          </a:prstGeom>
          <a:solidFill>
            <a:srgbClr val="1B7A6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Spring Boot API</a:t>
            </a:r>
          </a:p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Java 25 · JWT auth · Flyway migrations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80760" y="4617720"/>
            <a:ext cx="0" cy="274320"/>
          </a:xfrm>
          <a:prstGeom prst="line">
            <a:avLst/>
          </a:prstGeom>
          <a:ln w="19050">
            <a:solidFill>
              <a:srgbClr val="8A8A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480560" y="4892040"/>
            <a:ext cx="3200400" cy="731520"/>
          </a:xfrm>
          <a:prstGeom prst="roundRect">
            <a:avLst>
              <a:gd name="adj" fmla="val 8000"/>
            </a:avLst>
          </a:prstGeom>
          <a:solidFill>
            <a:srgbClr val="16335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PostgreSQL</a:t>
            </a:r>
          </a:p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native table partitioning for 1Hz activity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2926080"/>
            <a:ext cx="23774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5A5A5A"/>
                </a:solidFill>
                <a:latin typeface="Calibri"/>
              </a:rPr>
              <a:t>Everything runs as containers on one machine - no AWS account needed to develop or test.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60175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9900"/>
                </a:solidFill>
                <a:latin typeface="Calibri"/>
              </a:rPr>
              <a:t>LOCAL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Why this matters for the migration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A1A1A"/>
                </a:solidFill>
                <a:latin typeface="Calibri"/>
              </a:rPr>
              <a:t>▸ The local stack is the blueprint - the AWS architecture replaces each container with a managed or hosted equivalent, one at a time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A1A1A"/>
                </a:solidFill>
                <a:latin typeface="Calibri"/>
              </a:rPr>
              <a:t>▸ Postgres → Amazon RDS (managed Postgres)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A1A1A"/>
                </a:solidFill>
                <a:latin typeface="Calibri"/>
              </a:rPr>
              <a:t>▸ Spring Boot API container → runs on AWS compute (first ECS Fargate, later a plain EC2 instance)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A1A1A"/>
                </a:solidFill>
                <a:latin typeface="Calibri"/>
              </a:rPr>
              <a:t>▸ React build → served as static files from AWS storage + a CDN, not from a dev server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A1A1A"/>
                </a:solidFill>
                <a:latin typeface="Calibri"/>
              </a:rPr>
              <a:t>▸ JWT signing keys, DB credentials → move from local files/env vars to AWS Secrets Manager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A1A1A"/>
                </a:solidFill>
                <a:latin typeface="Calibri"/>
              </a:rPr>
              <a:t>▸ Nothing about the application code changes for any of this - only how and where it runs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60175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017520"/>
            <a:ext cx="12191695" cy="381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3657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 i="0">
                <a:solidFill>
                  <a:srgbClr val="FF9900"/>
                </a:solidFill>
                <a:latin typeface="Calibr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24612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Introduction to AWS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06908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C9D6E8"/>
                </a:solidFill>
                <a:latin typeface="Calibri"/>
              </a:rPr>
              <a:t>The core concepts and services this migration is built 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60175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9900"/>
                </a:solidFill>
                <a:latin typeface="Calibri"/>
              </a:rPr>
              <a:t>AWS FUNDAMENTALS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What is AWS?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A1A1A"/>
                </a:solidFill>
                <a:latin typeface="Calibri"/>
              </a:rPr>
              <a:t>▸ Amazon Web Services - a public cloud provider: compute, storage, networking, and managed services rented by the hour/GB/request instead of owned hardware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A1A1A"/>
                </a:solidFill>
                <a:latin typeface="Calibri"/>
              </a:rPr>
              <a:t>▸ "Managed" services (like RDS, a managed Postgres) mean AWS runs the underlying server, patching, and backups - you just use the database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A1A1A"/>
                </a:solidFill>
                <a:latin typeface="Calibri"/>
              </a:rPr>
              <a:t>▸ Two ideas underpin almost everything else in this deck:</a:t>
            </a:r>
          </a:p>
          <a:p>
            <a:pPr lvl="1">
              <a:spcAft>
                <a:spcPts val="1000"/>
              </a:spcAft>
            </a:pPr>
            <a:r>
              <a:rPr sz="1600" b="0">
                <a:solidFill>
                  <a:srgbClr val="5A5A5A"/>
                </a:solidFill>
                <a:latin typeface="Calibri"/>
              </a:rPr>
              <a:t>–  Region - a geographic area (this project uses eu-west-2, London)</a:t>
            </a:r>
          </a:p>
          <a:p>
            <a:pPr lvl="1">
              <a:spcAft>
                <a:spcPts val="1000"/>
              </a:spcAft>
            </a:pPr>
            <a:r>
              <a:rPr sz="1600" b="0">
                <a:solidFill>
                  <a:srgbClr val="5A5A5A"/>
                </a:solidFill>
                <a:latin typeface="Calibri"/>
              </a:rPr>
              <a:t>–  Availability Zone (AZ) - an isolated data center within a region; spreading resources across 2+ AZs survives one data center having a bad day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A1A1A"/>
                </a:solidFill>
                <a:latin typeface="Calibri"/>
              </a:rPr>
              <a:t>▸ Everything below lives inside one Region, one dedicated network (a VPC), built entirely with code (Terraform) rather than clicked together by hand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60175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9900"/>
                </a:solidFill>
                <a:latin typeface="Calibri"/>
              </a:rPr>
              <a:t>AWS FUNDAMENTALS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AWS services used in this project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17320"/>
          <a:ext cx="11094414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3603"/>
                <a:gridCol w="8320811"/>
              </a:tblGrid>
              <a:tr h="335280"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Service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What it's for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VPC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A private, isolated network in AWS - subnets, routing, firewalls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EC2</a:t>
                      </a:r>
                    </a:p>
                  </a:txBody>
                  <a:tcPr anchor="ctr" marL="73152" marR="73152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Virtual servers, rented by the hour</a:t>
                      </a:r>
                    </a:p>
                  </a:txBody>
                  <a:tcPr anchor="ctr" marL="73152" marR="73152">
                    <a:solidFill>
                      <a:srgbClr val="F4F6F9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RDS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Managed relational database (Postgres, here) - AWS handles patching/backups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ECS / Fargate</a:t>
                      </a:r>
                    </a:p>
                  </a:txBody>
                  <a:tcPr anchor="ctr" marL="73152" marR="73152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Runs containers without managing servers yourself (used in the original migration)</a:t>
                      </a:r>
                    </a:p>
                  </a:txBody>
                  <a:tcPr anchor="ctr" marL="73152" marR="73152">
                    <a:solidFill>
                      <a:srgbClr val="F4F6F9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Elastic Load Balancer (ALB)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Distributes traffic across servers, terminates HTTPS (used in the original migration)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S3</a:t>
                      </a:r>
                    </a:p>
                  </a:txBody>
                  <a:tcPr anchor="ctr" marL="73152" marR="73152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Object storage - here, hosts the built frontend's static files</a:t>
                      </a:r>
                    </a:p>
                  </a:txBody>
                  <a:tcPr anchor="ctr" marL="73152" marR="73152">
                    <a:solidFill>
                      <a:srgbClr val="F4F6F9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CloudFront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A CDN - caches content at edge locations worldwide, terminates HTTPS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Route 53</a:t>
                      </a:r>
                    </a:p>
                  </a:txBody>
                  <a:tcPr anchor="ctr" marL="73152" marR="73152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AWS's DNS service - turns domain names into IP addresses</a:t>
                      </a:r>
                    </a:p>
                  </a:txBody>
                  <a:tcPr anchor="ctr" marL="73152" marR="73152">
                    <a:solidFill>
                      <a:srgbClr val="F4F6F9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ACM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Free TLS/SSL certificates, auto-renewed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Secrets Manager</a:t>
                      </a:r>
                    </a:p>
                  </a:txBody>
                  <a:tcPr anchor="ctr" marL="73152" marR="73152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Encrypted storage for passwords/keys, with automatic rotation support</a:t>
                      </a:r>
                    </a:p>
                  </a:txBody>
                  <a:tcPr anchor="ctr" marL="73152" marR="73152">
                    <a:solidFill>
                      <a:srgbClr val="F4F6F9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IAM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Identity &amp; Access Management - who/what can do what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Systems Manager (SSM)</a:t>
                      </a:r>
                    </a:p>
                  </a:txBody>
                  <a:tcPr anchor="ctr" marL="73152" marR="73152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Remote access &amp; automation without SSH keys or open ports</a:t>
                      </a:r>
                    </a:p>
                  </a:txBody>
                  <a:tcPr anchor="ctr" marL="73152" marR="73152">
                    <a:solidFill>
                      <a:srgbClr val="F4F6F9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CloudWatch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Logs and metrics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ECR</a:t>
                      </a:r>
                    </a:p>
                  </a:txBody>
                  <a:tcPr anchor="ctr" marL="73152" marR="73152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Private Docker image registry</a:t>
                      </a:r>
                    </a:p>
                  </a:txBody>
                  <a:tcPr anchor="ctr" marL="73152" marR="73152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460175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017520"/>
            <a:ext cx="12191695" cy="381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3657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 i="0">
                <a:solidFill>
                  <a:srgbClr val="FF9900"/>
                </a:solidFill>
                <a:latin typeface="Calibr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24612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Introduction to Terraform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06908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C9D6E8"/>
                </a:solidFill>
                <a:latin typeface="Calibri"/>
              </a:rPr>
              <a:t>Defining infrastructure as code instead of clicking through the AWS console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60175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9900"/>
                </a:solidFill>
                <a:latin typeface="Calibri"/>
              </a:rPr>
              <a:t>TERRAFORM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What is Infrastructure as Code?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A1A1A"/>
                </a:solidFill>
                <a:latin typeface="Calibri"/>
              </a:rPr>
              <a:t>▸ Instead of manually clicking through the AWS Console to create a database, a server, a network - you describe the desired end state in a text file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A1A1A"/>
                </a:solidFill>
                <a:latin typeface="Calibri"/>
              </a:rPr>
              <a:t>▸ A tool then figures out what needs to be created, changed, or destroyed to make reality match that file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A1A1A"/>
                </a:solidFill>
                <a:latin typeface="Calibri"/>
              </a:rPr>
              <a:t>▸ Why it matters:</a:t>
            </a:r>
          </a:p>
          <a:p>
            <a:pPr lvl="1">
              <a:spcAft>
                <a:spcPts val="1000"/>
              </a:spcAft>
            </a:pPr>
            <a:r>
              <a:rPr sz="1600" b="0">
                <a:solidFill>
                  <a:srgbClr val="5A5A5A"/>
                </a:solidFill>
                <a:latin typeface="Calibri"/>
              </a:rPr>
              <a:t>–  Repeatable - the same config can build a second, identical environment (e.g. production)</a:t>
            </a:r>
          </a:p>
          <a:p>
            <a:pPr lvl="1">
              <a:spcAft>
                <a:spcPts val="1000"/>
              </a:spcAft>
            </a:pPr>
            <a:r>
              <a:rPr sz="1600" b="0">
                <a:solidFill>
                  <a:srgbClr val="5A5A5A"/>
                </a:solidFill>
                <a:latin typeface="Calibri"/>
              </a:rPr>
              <a:t>–  Reviewable - infrastructure changes go through the same diff/review process as application code</a:t>
            </a:r>
          </a:p>
          <a:p>
            <a:pPr lvl="1">
              <a:spcAft>
                <a:spcPts val="1000"/>
              </a:spcAft>
            </a:pPr>
            <a:r>
              <a:rPr sz="1600" b="0">
                <a:solidFill>
                  <a:srgbClr val="5A5A5A"/>
                </a:solidFill>
                <a:latin typeface="Calibri"/>
              </a:rPr>
              <a:t>–  Self-documenting - the config file *is* the up-to-date description of what exists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A1A1A"/>
                </a:solidFill>
                <a:latin typeface="Calibri"/>
              </a:rPr>
              <a:t>▸ Terraform is one such tool (others: AWS CloudFormation, Pulumi, AWS CDK) - chosen here partly because it's widely used in industry, and this project doubled as a learning exercise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60175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9900"/>
                </a:solidFill>
                <a:latin typeface="Calibri"/>
              </a:rPr>
              <a:t>TERRAFORM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Terraform core concepts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2103120" cy="6858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2103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Provider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508760"/>
            <a:ext cx="85039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The plugin that knows how to talk to a specific cloud (here: the AWS provider)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267712"/>
            <a:ext cx="2103120" cy="6858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267712"/>
            <a:ext cx="2103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Resource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313432"/>
            <a:ext cx="85039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One concrete thing to create - "an RDS database", "a security group"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072384"/>
            <a:ext cx="2103120" cy="6858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072384"/>
            <a:ext cx="2103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Module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3118104"/>
            <a:ext cx="85039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A reusable, self-contained bundle of resources - this project has a module each for the network, the database, the compute, etc.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877056"/>
            <a:ext cx="2103120" cy="6858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877056"/>
            <a:ext cx="2103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922776"/>
            <a:ext cx="85039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Terraform's record of what it last created, stored remotely (in this project, in an S3 bucket) so it knows what "already exists"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681728"/>
            <a:ext cx="2103120" cy="6858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681728"/>
            <a:ext cx="2103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Plan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4727448"/>
            <a:ext cx="85039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A dry run - "here's exactly what would change", reviewed before anything happens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486400"/>
            <a:ext cx="2103120" cy="6858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486400"/>
            <a:ext cx="2103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Apply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5532120"/>
            <a:ext cx="85039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Actually making the change described in the plan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60175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9900"/>
                </a:solidFill>
                <a:latin typeface="Calibri"/>
              </a:rPr>
              <a:t>TERRAFORM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everyday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A1A1A"/>
                </a:solidFill>
                <a:latin typeface="Calibri"/>
              </a:rPr>
              <a:t>▸ Edit a .tf file describing the change (e.g. "add a new database")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A1A1A"/>
                </a:solidFill>
                <a:latin typeface="Calibri"/>
              </a:rPr>
              <a:t>▸ terraform plan - review exactly what will be created/changed/destroyed, with no changes made yet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A1A1A"/>
                </a:solidFill>
                <a:latin typeface="Calibri"/>
              </a:rPr>
              <a:t>▸ terraform apply - actually make the change, after reviewing the plan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A1A1A"/>
                </a:solidFill>
                <a:latin typeface="Calibri"/>
              </a:rPr>
              <a:t>▸ Every infrastructure change in this project followed exactly this cycle - plan reviewed, then a human explicitly ran apply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60175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017520"/>
            <a:ext cx="12191695" cy="381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3657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 i="0">
                <a:solidFill>
                  <a:srgbClr val="FF9900"/>
                </a:solidFill>
                <a:latin typeface="Calibr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24612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The Original Migration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06908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C9D6E8"/>
                </a:solidFill>
                <a:latin typeface="Calibri"/>
              </a:rPr>
              <a:t>Step-by-step, learning-oriented - built with ECS Fargate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60175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9900"/>
                </a:solidFill>
                <a:latin typeface="Calibri"/>
              </a:rPr>
              <a:t>ORIGINAL MIGRATION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A1A1A"/>
                </a:solidFill>
                <a:latin typeface="Calibri"/>
              </a:rPr>
              <a:t>▸ Pre-launch project, no real users yet - meant the whole migration could be built and validated incrementally, with nothing at risk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A1A1A"/>
                </a:solidFill>
                <a:latin typeface="Calibri"/>
              </a:rPr>
              <a:t>▸ Deliberately went step by step rather than all at once, to actually learn AWS/Terraform along the way rather than copy a template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A1A1A"/>
                </a:solidFill>
                <a:latin typeface="Calibri"/>
              </a:rPr>
              <a:t>▸ Each step: build it in Terraform → review the plan → apply → verify it actually works (curl the endpoint, check the logs) → document it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A1A1A"/>
                </a:solidFill>
                <a:latin typeface="Calibri"/>
              </a:rPr>
              <a:t>▸ Real problems surfaced and were fixed along the way rather than glossed over - a genuinely accurate account of what building on AWS is actually like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60175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9900"/>
                </a:solidFill>
                <a:latin typeface="Calibri"/>
              </a:rPr>
              <a:t>ORIGINAL MIGRATION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Original architecture (ECS Fargate)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25880"/>
            <a:ext cx="1828800" cy="502920"/>
          </a:xfrm>
          <a:prstGeom prst="roundRect">
            <a:avLst>
              <a:gd name="adj" fmla="val 8000"/>
            </a:avLst>
          </a:prstGeom>
          <a:solidFill>
            <a:srgbClr val="8A8A8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Browser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1325880"/>
            <a:ext cx="2011680" cy="502920"/>
          </a:xfrm>
          <a:prstGeom prst="roundRect">
            <a:avLst>
              <a:gd name="adj" fmla="val 8000"/>
            </a:avLst>
          </a:prstGeom>
          <a:solidFill>
            <a:srgbClr val="8A8A8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Route 53 (DNS)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286000" y="1572768"/>
            <a:ext cx="2834640" cy="0"/>
          </a:xfrm>
          <a:prstGeom prst="line">
            <a:avLst/>
          </a:prstGeom>
          <a:ln w="19050">
            <a:solidFill>
              <a:srgbClr val="8A8A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57200" y="2148840"/>
            <a:ext cx="2377440" cy="594360"/>
          </a:xfrm>
          <a:prstGeom prst="roundRect">
            <a:avLst>
              <a:gd name="adj" fmla="val 8000"/>
            </a:avLst>
          </a:prstGeom>
          <a:solidFill>
            <a:srgbClr val="1B7A6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CloudFront + S3</a:t>
            </a:r>
          </a:p>
          <a:p>
            <a:pPr algn="ctr"/>
            <a:r>
              <a:rPr sz="900">
                <a:solidFill>
                  <a:srgbClr val="FFFFFF"/>
                </a:solidFill>
                <a:latin typeface="Calibri"/>
              </a:rPr>
              <a:t>frontend static build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1645920" y="1828800"/>
            <a:ext cx="3840480" cy="320040"/>
          </a:xfrm>
          <a:prstGeom prst="line">
            <a:avLst/>
          </a:prstGeom>
          <a:ln w="19050">
            <a:solidFill>
              <a:srgbClr val="8A8A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3200400" y="2148840"/>
            <a:ext cx="8595360" cy="41605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2194560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5A5A5A"/>
                </a:solidFill>
                <a:latin typeface="Calibri"/>
              </a:rPr>
              <a:t>VPC (eu-west-2)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200400"/>
            <a:ext cx="2103120" cy="502920"/>
          </a:xfrm>
          <a:prstGeom prst="roundRect">
            <a:avLst>
              <a:gd name="adj" fmla="val 8000"/>
            </a:avLst>
          </a:prstGeom>
          <a:solidFill>
            <a:srgbClr val="2E5A9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ALB (HTTPS)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35040" y="1828800"/>
            <a:ext cx="1371600" cy="1371600"/>
          </a:xfrm>
          <a:prstGeom prst="line">
            <a:avLst/>
          </a:prstGeom>
          <a:ln w="19050">
            <a:solidFill>
              <a:srgbClr val="8A8A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052560" y="2377440"/>
            <a:ext cx="2468880" cy="502920"/>
          </a:xfrm>
          <a:prstGeom prst="roundRect">
            <a:avLst>
              <a:gd name="adj" fmla="val 8000"/>
            </a:avLst>
          </a:prstGeom>
          <a:solidFill>
            <a:srgbClr val="8A8A8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NAT Gateway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931920"/>
            <a:ext cx="2468880" cy="548640"/>
          </a:xfrm>
          <a:prstGeom prst="roundRect">
            <a:avLst>
              <a:gd name="adj" fmla="val 8000"/>
            </a:avLst>
          </a:prstGeom>
          <a:solidFill>
            <a:srgbClr val="1B7A6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ECS Fargate task</a:t>
            </a:r>
          </a:p>
          <a:p>
            <a:pPr algn="ctr"/>
            <a:r>
              <a:rPr sz="900">
                <a:solidFill>
                  <a:srgbClr val="FFFFFF"/>
                </a:solidFill>
                <a:latin typeface="Calibri"/>
              </a:rPr>
              <a:t>Java backend container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452360" y="3703320"/>
            <a:ext cx="0" cy="228600"/>
          </a:xfrm>
          <a:prstGeom prst="line">
            <a:avLst/>
          </a:prstGeom>
          <a:ln w="19050">
            <a:solidFill>
              <a:srgbClr val="8A8A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8686800" y="2880360"/>
            <a:ext cx="1600200" cy="1097279"/>
          </a:xfrm>
          <a:prstGeom prst="line">
            <a:avLst/>
          </a:prstGeom>
          <a:ln w="19050">
            <a:solidFill>
              <a:srgbClr val="8A8A8A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474720" y="3931920"/>
            <a:ext cx="2194560" cy="548640"/>
          </a:xfrm>
          <a:prstGeom prst="roundRect">
            <a:avLst>
              <a:gd name="adj" fmla="val 8000"/>
            </a:avLst>
          </a:prstGeom>
          <a:solidFill>
            <a:srgbClr val="8A8A8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EFS</a:t>
            </a:r>
          </a:p>
          <a:p>
            <a:pPr algn="ctr"/>
            <a:r>
              <a:rPr sz="900">
                <a:solidFill>
                  <a:srgbClr val="FFFFFF"/>
                </a:solidFill>
                <a:latin typeface="Calibri"/>
              </a:rPr>
              <a:t>/app/media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5669280" y="4206240"/>
            <a:ext cx="548640" cy="0"/>
          </a:xfrm>
          <a:prstGeom prst="line">
            <a:avLst/>
          </a:prstGeom>
          <a:ln w="19050">
            <a:solidFill>
              <a:srgbClr val="8A8A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474720" y="4892040"/>
            <a:ext cx="2194560" cy="548640"/>
          </a:xfrm>
          <a:prstGeom prst="roundRect">
            <a:avLst>
              <a:gd name="adj" fmla="val 8000"/>
            </a:avLst>
          </a:prstGeom>
          <a:solidFill>
            <a:srgbClr val="8A8A8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SSM Bastion</a:t>
            </a:r>
          </a:p>
          <a:p>
            <a:pPr algn="ctr"/>
            <a:r>
              <a:rPr sz="900">
                <a:solidFill>
                  <a:srgbClr val="FFFFFF"/>
                </a:solidFill>
                <a:latin typeface="Calibri"/>
              </a:rPr>
              <a:t>ad-hoc DB access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4892040"/>
            <a:ext cx="2468880" cy="548640"/>
          </a:xfrm>
          <a:prstGeom prst="roundRect">
            <a:avLst>
              <a:gd name="adj" fmla="val 8000"/>
            </a:avLst>
          </a:prstGeom>
          <a:solidFill>
            <a:srgbClr val="16335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RDS PostgreSQL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452360" y="4480560"/>
            <a:ext cx="0" cy="411480"/>
          </a:xfrm>
          <a:prstGeom prst="line">
            <a:avLst/>
          </a:prstGeom>
          <a:ln w="19050">
            <a:solidFill>
              <a:srgbClr val="8A8A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572000" y="5166360"/>
            <a:ext cx="1645920" cy="0"/>
          </a:xfrm>
          <a:prstGeom prst="line">
            <a:avLst/>
          </a:prstGeom>
          <a:ln w="19050">
            <a:solidFill>
              <a:srgbClr val="8A8A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57200" y="5989320"/>
            <a:ext cx="6766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5A5A5A"/>
                </a:solidFill>
                <a:latin typeface="Calibri"/>
              </a:rPr>
              <a:t>5 modules of compute/networking (VPC, RDS, ECR, bastion, ECS+ALB+EFS) + Secrets Manager + ACM, all in Terraform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406640" y="6126480"/>
            <a:ext cx="548639" cy="0"/>
          </a:xfrm>
          <a:prstGeom prst="line">
            <a:avLst/>
          </a:prstGeom>
          <a:ln w="19050">
            <a:solidFill>
              <a:srgbClr val="8A8A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046720" y="5989320"/>
            <a:ext cx="1554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Calibri"/>
              </a:rPr>
              <a:t>request flow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509760" y="6126480"/>
            <a:ext cx="548640" cy="0"/>
          </a:xfrm>
          <a:prstGeom prst="line">
            <a:avLst/>
          </a:prstGeom>
          <a:ln w="19050">
            <a:solidFill>
              <a:srgbClr val="8A8A8A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0149840" y="5989320"/>
            <a:ext cx="1645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Calibri"/>
              </a:rPr>
              <a:t>outbound only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60175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9900"/>
                </a:solidFill>
                <a:latin typeface="Calibri"/>
              </a:rPr>
              <a:t>ORIGINAL MIGRATION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What each piece did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A1A1A"/>
                </a:solidFill>
                <a:latin typeface="Calibri"/>
              </a:rPr>
              <a:t>▸ VPC - dedicated private network, public subnets (internet-facing) + private subnets (database only)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A1A1A"/>
                </a:solidFill>
                <a:latin typeface="Calibri"/>
              </a:rPr>
              <a:t>▸ NAT Gateway - let private-subnet resources reach the internet outbound (e.g. to pull container images) without being reachable from it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A1A1A"/>
                </a:solidFill>
                <a:latin typeface="Calibri"/>
              </a:rPr>
              <a:t>▸ ECR - private registry holding the built Docker image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A1A1A"/>
                </a:solidFill>
                <a:latin typeface="Calibri"/>
              </a:rPr>
              <a:t>▸ ECS Fargate - ran the container without managing an underlying server; a Task Definition described the container, an ALB routed traffic to it and only forwarded to healthy containers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A1A1A"/>
                </a:solidFill>
                <a:latin typeface="Calibri"/>
              </a:rPr>
              <a:t>▸ RDS - managed Postgres, in the private subnet, never internet-reachable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A1A1A"/>
                </a:solidFill>
                <a:latin typeface="Calibri"/>
              </a:rPr>
              <a:t>▸ EFS - shared network storage for uploaded files (needed because Fargate's own disk is wiped on every restart)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A1A1A"/>
                </a:solidFill>
                <a:latin typeface="Calibri"/>
              </a:rPr>
              <a:t>▸ SSM Bastion - a small instance for ad-hoc database access with no open inbound ports and no SSH keys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60175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9900"/>
                </a:solidFill>
                <a:latin typeface="Calibri"/>
              </a:rPr>
              <a:t>ORIGINAL MIGRATION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Real problems, found and fixed along the 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A1A1A"/>
                </a:solidFill>
                <a:latin typeface="Calibri"/>
              </a:rPr>
              <a:t>▸ TimescaleDB (the originally planned database extension) turned out not to be supported on any AWS-managed Postgres at all - discovered via AWS's own docs, not assumed. Fixed by switching to native Postgres table partitioning instead, before RDS was even built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A1A1A"/>
                </a:solidFill>
                <a:latin typeface="Calibri"/>
              </a:rPr>
              <a:t>▸ A gunicorn timeout on a slow "recompute" endpoint - converted to a proper background job with progress polling, rather than just raising the timeout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A1A1A"/>
                </a:solidFill>
                <a:latin typeface="Calibri"/>
              </a:rPr>
              <a:t>▸ JWT signing keys were being generated fresh on every container boot - fine locally, but broke authentication across restarts on Fargate (each new container got a different key). Fixed before it could cause a real outage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A1A1A"/>
                </a:solidFill>
                <a:latin typeface="Calibri"/>
              </a:rPr>
              <a:t>▸ This kind of iterative, verify-as-you-go process is normal for a real cloud migration, not a sign something went wrong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60175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9900"/>
                </a:solidFill>
                <a:latin typeface="Calibri"/>
              </a:rPr>
              <a:t>ORIGINAL MIGRATION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What ECS Fargate cost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17320"/>
          <a:ext cx="11094413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3603"/>
                <a:gridCol w="5547207"/>
                <a:gridCol w="2773603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Resource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Monthly cost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NAT Gateway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Flat hourly fee, regardless of traffic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$36.50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Application Load Balancer</a:t>
                      </a:r>
                    </a:p>
                  </a:txBody>
                  <a:tcPr anchor="ctr" marL="73152" marR="73152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Flat hourly fee + per-request</a:t>
                      </a:r>
                    </a:p>
                  </a:txBody>
                  <a:tcPr anchor="ctr" marL="73152" marR="73152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~$19-25</a:t>
                      </a:r>
                    </a:p>
                  </a:txBody>
                  <a:tcPr anchor="ctr" marL="73152" marR="73152"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ECS Fargate task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Billed per vCPU/GB-hour while running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$16.59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RDS (instance + storage)</a:t>
                      </a:r>
                    </a:p>
                  </a:txBody>
                  <a:tcPr anchor="ctr" marL="73152" marR="73152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db.t4g.micro + 20GB</a:t>
                      </a:r>
                    </a:p>
                  </a:txBody>
                  <a:tcPr anchor="ctr" marL="73152" marR="73152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$15.80</a:t>
                      </a:r>
                    </a:p>
                  </a:txBody>
                  <a:tcPr anchor="ctr" marL="73152" marR="73152"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Everything else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Secrets Manager, Route 53, EFS, S3, CloudFront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~$5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anchor="ctr" marL="73152" marR="73152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Running continuously</a:t>
                      </a:r>
                    </a:p>
                  </a:txBody>
                  <a:tcPr anchor="ctr" marL="73152" marR="73152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~$90-100/month</a:t>
                      </a:r>
                    </a:p>
                  </a:txBody>
                  <a:tcPr anchor="ctr" marL="73152" marR="73152">
                    <a:solidFill>
                      <a:srgbClr val="FFF3E0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A5A5A"/>
                </a:solidFill>
                <a:latin typeface="Calibri"/>
              </a:rPr>
              <a:t>Real usage pattern: about 10 minutes a day. Nearly all of this cost is fixed capacity sitting idle the rest of the 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60175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017520"/>
            <a:ext cx="12191695" cy="381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3657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 i="0">
                <a:solidFill>
                  <a:srgbClr val="FF9900"/>
                </a:solidFill>
                <a:latin typeface="Calibri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24612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The Final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06908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C9D6E8"/>
                </a:solidFill>
                <a:latin typeface="Calibri"/>
              </a:rPr>
              <a:t>Redesigned around a concrete cost target: cheaper than a Strava subscription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60175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9900"/>
                </a:solidFill>
                <a:latin typeface="Calibri"/>
              </a:rPr>
              <a:t>FINAL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Why change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A1A1A"/>
                </a:solidFill>
                <a:latin typeface="Calibri"/>
              </a:rPr>
              <a:t>▸ The goal became concrete: get the running cost below a Strava subscription (£8.99/month)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A1A1A"/>
                </a:solidFill>
                <a:latin typeface="Calibri"/>
              </a:rPr>
              <a:t>▸ The Fargate architecture's cost was dominated by two things that are billed by the hour no matter how much (or little) they're used: the NAT Gateway and the Load Balancer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A1A1A"/>
                </a:solidFill>
                <a:latin typeface="Calibri"/>
              </a:rPr>
              <a:t>▸ Neither one has a "pause" button - the only way to actually remove that cost is to remove the resource itself, not just use it less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A1A1A"/>
                </a:solidFill>
                <a:latin typeface="Calibri"/>
              </a:rPr>
              <a:t>▸ Redesigned around a single small EC2 instance and CloudFront, re-examining every piece of the original design against "does this still need to exist?"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60175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9900"/>
                </a:solidFill>
                <a:latin typeface="Calibri"/>
              </a:rPr>
              <a:t>FINAL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Final architecture (EC2 + CloudFront)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25880"/>
            <a:ext cx="1828800" cy="502920"/>
          </a:xfrm>
          <a:prstGeom prst="roundRect">
            <a:avLst>
              <a:gd name="adj" fmla="val 8000"/>
            </a:avLst>
          </a:prstGeom>
          <a:solidFill>
            <a:srgbClr val="8A8A8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Browser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1325880"/>
            <a:ext cx="2011680" cy="502920"/>
          </a:xfrm>
          <a:prstGeom prst="roundRect">
            <a:avLst>
              <a:gd name="adj" fmla="val 8000"/>
            </a:avLst>
          </a:prstGeom>
          <a:solidFill>
            <a:srgbClr val="8A8A8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Route 53 (DNS)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286000" y="1572768"/>
            <a:ext cx="2834640" cy="0"/>
          </a:xfrm>
          <a:prstGeom prst="line">
            <a:avLst/>
          </a:prstGeom>
          <a:ln w="19050">
            <a:solidFill>
              <a:srgbClr val="8A8A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57200" y="2194560"/>
            <a:ext cx="2468880" cy="594360"/>
          </a:xfrm>
          <a:prstGeom prst="roundRect">
            <a:avLst>
              <a:gd name="adj" fmla="val 8000"/>
            </a:avLst>
          </a:prstGeom>
          <a:solidFill>
            <a:srgbClr val="1B7A6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CloudFront + S3</a:t>
            </a:r>
          </a:p>
          <a:p>
            <a:pPr algn="ctr"/>
            <a:r>
              <a:rPr sz="900">
                <a:solidFill>
                  <a:srgbClr val="FFFFFF"/>
                </a:solidFill>
                <a:latin typeface="Calibri"/>
              </a:rPr>
              <a:t>frontend static build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71800"/>
            <a:ext cx="2468880" cy="594360"/>
          </a:xfrm>
          <a:prstGeom prst="roundRect">
            <a:avLst>
              <a:gd name="adj" fmla="val 8000"/>
            </a:avLst>
          </a:prstGeom>
          <a:solidFill>
            <a:srgbClr val="1B7A6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CloudFront</a:t>
            </a:r>
          </a:p>
          <a:p>
            <a:pPr algn="ctr"/>
            <a:r>
              <a:rPr sz="900">
                <a:solidFill>
                  <a:srgbClr val="FFFFFF"/>
                </a:solidFill>
                <a:latin typeface="Calibri"/>
              </a:rPr>
              <a:t>API - custom origin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1691640" y="1828800"/>
            <a:ext cx="3794760" cy="365760"/>
          </a:xfrm>
          <a:prstGeom prst="line">
            <a:avLst/>
          </a:prstGeom>
          <a:ln w="19050">
            <a:solidFill>
              <a:srgbClr val="8A8A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1691640" y="1828800"/>
            <a:ext cx="3794760" cy="1143000"/>
          </a:xfrm>
          <a:prstGeom prst="line">
            <a:avLst/>
          </a:prstGeom>
          <a:ln w="19050">
            <a:solidFill>
              <a:srgbClr val="8A8A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3474720" y="2194560"/>
            <a:ext cx="8321040" cy="41148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2240280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5A5A5A"/>
                </a:solidFill>
                <a:latin typeface="Calibri"/>
              </a:rPr>
              <a:t>VPC (eu-west-2) - no NAT Gateway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0" y="2606040"/>
            <a:ext cx="3291840" cy="868680"/>
          </a:xfrm>
          <a:prstGeom prst="roundRect">
            <a:avLst>
              <a:gd name="adj" fmla="val 8000"/>
            </a:avLst>
          </a:prstGeom>
          <a:solidFill>
            <a:srgbClr val="2E5A9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One EC2 instance (t4g.micro)</a:t>
            </a:r>
          </a:p>
          <a:p>
            <a:pPr algn="ctr"/>
            <a:r>
              <a:rPr sz="900">
                <a:solidFill>
                  <a:srgbClr val="FFFFFF"/>
                </a:solidFill>
                <a:latin typeface="Calibri"/>
              </a:rPr>
              <a:t>Java backend · docker + systemd · Elastic IP
also serves ad-hoc DB access (absorbed bastion)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2926080" y="3017520"/>
            <a:ext cx="2743200" cy="228600"/>
          </a:xfrm>
          <a:prstGeom prst="line">
            <a:avLst/>
          </a:prstGeom>
          <a:ln w="19050">
            <a:solidFill>
              <a:srgbClr val="8A8A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309360" y="3794760"/>
            <a:ext cx="2194560" cy="548640"/>
          </a:xfrm>
          <a:prstGeom prst="roundRect">
            <a:avLst>
              <a:gd name="adj" fmla="val 8000"/>
            </a:avLst>
          </a:prstGeom>
          <a:solidFill>
            <a:srgbClr val="16335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RDS PostgreSQL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315200" y="3474720"/>
            <a:ext cx="0" cy="320040"/>
          </a:xfrm>
          <a:prstGeom prst="line">
            <a:avLst/>
          </a:prstGeom>
          <a:ln w="19050">
            <a:solidFill>
              <a:srgbClr val="8A8A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474720" y="5989320"/>
            <a:ext cx="8321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C5221F"/>
                </a:solidFill>
                <a:latin typeface="Calibri"/>
              </a:rPr>
              <a:t>No ALB. No NAT Gateway. No EFS. No separate bastion instance.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60175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9900"/>
                </a:solidFill>
                <a:latin typeface="Calibri"/>
              </a:rPr>
              <a:t>FINAL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What changed, and why it's still safe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A1A1A"/>
                </a:solidFill>
                <a:latin typeface="Calibri"/>
              </a:rPr>
              <a:t>▸ ALB removed - CloudFront sits in front of the EC2 instance directly. An Elastic IP gives the instance a fixed address that never changes across restarts, so CloudFront's config never needs updating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A1A1A"/>
                </a:solidFill>
                <a:latin typeface="Calibri"/>
              </a:rPr>
              <a:t>▸ NAT Gateway removed - the instance gets its own public IP for outbound traffic instead. It's still not reachable from the internet - its firewall (security group) only accepts traffic from CloudFront's own known IP ranges, nothing else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A1A1A"/>
                </a:solidFill>
                <a:latin typeface="Calibri"/>
              </a:rPr>
              <a:t>▸ Fargate → one EC2 instance - cheaper per hour even running continuously, and (unlike Fargate) it can be properly stopped between uses, dropping its cost to near zero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A1A1A"/>
                </a:solidFill>
                <a:latin typeface="Calibri"/>
              </a:rPr>
              <a:t>▸ EFS removed - Fargate's disk was wiped on every restart, which is why shared network storage was needed. A persistent EC2 instance's own disk survives stop/start, so files just live there now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A1A1A"/>
                </a:solidFill>
                <a:latin typeface="Calibri"/>
              </a:rPr>
              <a:t>▸ Bastion absorbed - the same instance that serves traffic now also provides ad-hoc database access, instead of paying for a second always-there instance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60175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9900"/>
                </a:solidFill>
                <a:latin typeface="Calibri"/>
              </a:rPr>
              <a:t>FINAL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Two real incidents along the 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A1A1A"/>
                </a:solidFill>
                <a:latin typeface="Calibri"/>
              </a:rPr>
              <a:t>▸ A boot script briefly put database and signing-key secrets directly on a process's command line - visible to a routine status check, not just an attacker. Caught quickly, all affected secrets rotated immediately, and the script redesigned so secrets never appear on a command line again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A1A1A"/>
                </a:solidFill>
                <a:latin typeface="Calibri"/>
              </a:rPr>
              <a:t>▸ A configuration change to the instance was applied without confirming with the person running it first, causing a short, unplanned restart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A1A1A"/>
                </a:solidFill>
                <a:latin typeface="Calibri"/>
              </a:rPr>
              <a:t>▸ Both are included here deliberately - a truthful account of a cloud migration includes catching and fixing real mistakes, not just the parts that went smoothly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60175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017520"/>
            <a:ext cx="12191695" cy="381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3657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 i="0">
                <a:solidFill>
                  <a:srgbClr val="FF9900"/>
                </a:solidFill>
                <a:latin typeface="Calibri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24612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Cost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06908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C9D6E8"/>
                </a:solidFill>
                <a:latin typeface="Calibri"/>
              </a:rPr>
              <a:t>Same application, same reliability model - a very different bill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60175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9900"/>
                </a:solidFill>
                <a:latin typeface="Calibri"/>
              </a:rPr>
              <a:t>COST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Before vs after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17320"/>
          <a:ext cx="11094413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3603"/>
                <a:gridCol w="4160405"/>
                <a:gridCol w="4160405"/>
              </a:tblGrid>
              <a:tr h="457200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ECS Fargate (original)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EC2 + CloudFront (final)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Compute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$16.59/mo (Fargate task)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$6.86/mo (t4g.micro) - $0 when stopped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Load balancing / edge</a:t>
                      </a:r>
                    </a:p>
                  </a:txBody>
                  <a:tcPr anchor="ctr" marL="73152" marR="73152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$19-25/mo (ALB)</a:t>
                      </a:r>
                    </a:p>
                  </a:txBody>
                  <a:tcPr anchor="ctr" marL="73152" marR="73152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~$1-2/mo (CloudFront, pay-per-request)</a:t>
                      </a:r>
                    </a:p>
                  </a:txBody>
                  <a:tcPr anchor="ctr" marL="73152" marR="73152"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Outbound networking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$36.50/mo (NAT Gateway)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$0 (removed entirely)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Database</a:t>
                      </a:r>
                    </a:p>
                  </a:txBody>
                  <a:tcPr anchor="ctr" marL="73152" marR="73152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$15.80/mo (RDS)</a:t>
                      </a:r>
                    </a:p>
                  </a:txBody>
                  <a:tcPr anchor="ctr" marL="73152" marR="73152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$15.80/mo (unchanged)</a:t>
                      </a:r>
                    </a:p>
                  </a:txBody>
                  <a:tcPr anchor="ctr" marL="73152" marR="73152"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File storage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EFS (shared network storage)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Local disk (no extra service)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Ad-hoc DB access</a:t>
                      </a:r>
                    </a:p>
                  </a:txBody>
                  <a:tcPr anchor="ctr" marL="73152" marR="73152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Separate bastion instance</a:t>
                      </a:r>
                    </a:p>
                  </a:txBody>
                  <a:tcPr anchor="ctr" marL="73152" marR="73152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Absorbed into the main instance</a:t>
                      </a:r>
                    </a:p>
                  </a:txBody>
                  <a:tcPr anchor="ctr" marL="73152" marR="73152"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Total, running continuously</a:t>
                      </a:r>
                    </a:p>
                  </a:txBody>
                  <a:tcPr anchor="ctr" marL="73152" marR="73152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~$90-100/month</a:t>
                      </a:r>
                    </a:p>
                  </a:txBody>
                  <a:tcPr anchor="ctr" marL="73152" marR="73152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~$10-12/month</a:t>
                      </a:r>
                    </a:p>
                  </a:txBody>
                  <a:tcPr anchor="ctr" marL="73152" marR="73152">
                    <a:solidFill>
                      <a:srgbClr val="FFF3E0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460175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9900"/>
                </a:solidFill>
                <a:latin typeface="Calibri"/>
              </a:rPr>
              <a:t>COST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Where the savings actually came from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0972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  <a:latin typeface="Calibri"/>
              </a:rPr>
              <a:t>Original monthly cost (~$96)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554480"/>
            <a:ext cx="1879531" cy="384048"/>
          </a:xfrm>
          <a:prstGeom prst="rect">
            <a:avLst/>
          </a:prstGeom>
          <a:solidFill>
            <a:srgbClr val="C52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36192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Calibri"/>
              </a:rPr>
              <a:t>NAT Gateway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93931" y="1600200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$36.50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121408"/>
            <a:ext cx="1132868" cy="384048"/>
          </a:xfrm>
          <a:prstGeom prst="rect">
            <a:avLst/>
          </a:prstGeom>
          <a:solidFill>
            <a:srgbClr val="C52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10312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Calibri"/>
              </a:rPr>
              <a:t>ALB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47268" y="216712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$22.00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2688336"/>
            <a:ext cx="854285" cy="384048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670048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Calibri"/>
              </a:rPr>
              <a:t>Fargate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68685" y="2734056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$16.59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3255264"/>
            <a:ext cx="813605" cy="384048"/>
          </a:xfrm>
          <a:prstGeom prst="rect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236976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Calibri"/>
              </a:rPr>
              <a:t>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28005" y="3300984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$15.80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3822192"/>
            <a:ext cx="257470" cy="384048"/>
          </a:xfrm>
          <a:prstGeom prst="rect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803904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Calibri"/>
              </a:rPr>
              <a:t>Other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1870" y="3867912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$5.00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10972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  <a:latin typeface="Calibri"/>
              </a:rPr>
              <a:t>Final monthly cost (~$11)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1554480"/>
            <a:ext cx="813605" cy="384048"/>
          </a:xfrm>
          <a:prstGeom prst="rect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1536192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Calibri"/>
              </a:rPr>
              <a:t>RDS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97285" y="1600200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$15.80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92240" y="2121408"/>
            <a:ext cx="353248" cy="384048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210312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Calibri"/>
              </a:rPr>
              <a:t>EC2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36928" y="216712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$6.86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92240" y="2688336"/>
            <a:ext cx="77241" cy="384048"/>
          </a:xfrm>
          <a:prstGeom prst="rect">
            <a:avLst/>
          </a:prstGeom>
          <a:solidFill>
            <a:srgbClr val="1B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2670048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Calibri"/>
              </a:rPr>
              <a:t>CloudFront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60921" y="2734056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$1.50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92240" y="3255264"/>
            <a:ext cx="154482" cy="384048"/>
          </a:xfrm>
          <a:prstGeom prst="rect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3236976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Calibri"/>
              </a:rPr>
              <a:t>Other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38162" y="3300984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$3.00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5A5A5A"/>
                </a:solidFill>
                <a:latin typeface="Calibri"/>
              </a:rPr>
              <a:t>Bars drawn on the same scale - RDS (unchanged) is now the single largest line item.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60175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9900"/>
                </a:solidFill>
                <a:latin typeface="Calibri"/>
              </a:rPr>
              <a:t>COST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Stopping when idle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A1A1A"/>
                </a:solidFill>
                <a:latin typeface="Calibri"/>
              </a:rPr>
              <a:t>▸ Real usage pattern is roughly 10 minutes a day - so the environment can simply be switched off the rest of the time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A1A1A"/>
                </a:solidFill>
                <a:latin typeface="Calibri"/>
              </a:rPr>
              <a:t>▸ A one-command script starts/stops both the database and the EC2 instance on demand (CloudFront has no "off" state, but it's nearly free at this traffic level anyway)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A1A1A"/>
                </a:solidFill>
                <a:latin typeface="Calibri"/>
              </a:rPr>
              <a:t>▸ With that habit: the achievable floor drops to roughly $2-5/month - comfortably under the original £8.99/month target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A1A1A"/>
                </a:solidFill>
                <a:latin typeface="Calibri"/>
              </a:rPr>
              <a:t>▸ None of this was possible with Fargate + ALB + NAT Gateway - none of those three have a genuine "pause" button, only delete-and-rebuild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60175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9900"/>
                </a:solidFill>
                <a:latin typeface="Calibri"/>
              </a:rPr>
              <a:t>LOOKING 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 few honest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A1A1A"/>
                </a:solidFill>
                <a:latin typeface="Calibri"/>
              </a:rPr>
              <a:t>▸ "Managed" and "serverless" services (Fargate, ALB, NAT Gateway) trade operational effort for a flat, always-on bill - worth it under real load, expensive for something used 10 minutes a day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A1A1A"/>
                </a:solidFill>
                <a:latin typeface="Calibri"/>
              </a:rPr>
              <a:t>▸ The AWS docs are the source of truth, not assumption or memory - the TimescaleDB discovery came directly from checking AWS's own documentation before building anything on top of a wrong assumption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A1A1A"/>
                </a:solidFill>
                <a:latin typeface="Calibri"/>
              </a:rPr>
              <a:t>▸ Infrastructure-as-code makes a redesign like this tractable - swapping ECS+ALB+EFS+bastion for one EC2 instance was a reviewable diff, not a manual rebuild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A1A1A"/>
                </a:solidFill>
                <a:latin typeface="Calibri"/>
              </a:rPr>
              <a:t>▸ Real incidents (a secret exposure, an unplanned reboot) happened and got fixed - that's a normal, expected part of building real infrastructure, not evidence of a flawed process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60175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017520"/>
            <a:ext cx="12191695" cy="381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3657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 i="0">
                <a:solidFill>
                  <a:srgbClr val="FF9900"/>
                </a:solidFill>
                <a:latin typeface="Calibri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24612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Glossary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06908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C9D6E8"/>
                </a:solidFill>
                <a:latin typeface="Calibri"/>
              </a:rPr>
              <a:t>AWS and Terraform terms used throughout this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60175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9900"/>
                </a:solidFill>
                <a:latin typeface="Calibri"/>
              </a:rPr>
              <a:t>GLOSSARY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Glossary - Networking &amp; Compute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2377440" cy="53035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25880"/>
            <a:ext cx="22860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Region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1344168"/>
            <a:ext cx="850392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A geographic area with multiple, isolated AWS data centers (this project: eu-west-2, London)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929384"/>
            <a:ext cx="2377440" cy="53035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29384"/>
            <a:ext cx="22860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Availability Zone (AZ)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1947672"/>
            <a:ext cx="850392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One isolated data center within a Region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532888"/>
            <a:ext cx="2377440" cy="53035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532888"/>
            <a:ext cx="22860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VPC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2551176"/>
            <a:ext cx="850392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Virtual Private Cloud - your own private, isolated network within AWS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136392"/>
            <a:ext cx="2377440" cy="53035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136392"/>
            <a:ext cx="22860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Subnet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40" y="3154680"/>
            <a:ext cx="850392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A subdivision of a VPC; "public" subnets can route to the internet, "private" ones can't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739896"/>
            <a:ext cx="2377440" cy="53035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739896"/>
            <a:ext cx="22860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Security Group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3240" y="3758184"/>
            <a:ext cx="850392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A virtual firewall attached to a resource, controlling inbound/outbound traffic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343400"/>
            <a:ext cx="2377440" cy="53035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4343400"/>
            <a:ext cx="22860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Elastic IP (EIP)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63240" y="4361688"/>
            <a:ext cx="850392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A static public IP address that stays the same across a stop/start of an EC2 instance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946904"/>
            <a:ext cx="2377440" cy="53035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4946904"/>
            <a:ext cx="22860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NAT Gateway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63240" y="4965192"/>
            <a:ext cx="850392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Lets private-subnet resources reach the internet outbound without being reachable from it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550408"/>
            <a:ext cx="2377440" cy="53035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5550408"/>
            <a:ext cx="22860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EC2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63240" y="5568696"/>
            <a:ext cx="850392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Elastic Compute Cloud - a virtual server, rented by the hour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60175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9900"/>
                </a:solidFill>
                <a:latin typeface="Calibri"/>
              </a:rPr>
              <a:t>GLOSSARY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Glossary - Storage, Delivery &amp; DNS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2377440" cy="53035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25880"/>
            <a:ext cx="22860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1344168"/>
            <a:ext cx="850392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Relational Database Service - a managed database (Postgres, MySQL, etc.)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929384"/>
            <a:ext cx="2377440" cy="53035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29384"/>
            <a:ext cx="22860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ECS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1947672"/>
            <a:ext cx="850392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Elastic Container Service - runs and schedules Docker containers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532888"/>
            <a:ext cx="2377440" cy="53035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532888"/>
            <a:ext cx="22860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Fargate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2551176"/>
            <a:ext cx="850392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The "serverless" way to run ECS containers - no server to manage, billed per container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136392"/>
            <a:ext cx="2377440" cy="53035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136392"/>
            <a:ext cx="22860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ALB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40" y="3154680"/>
            <a:ext cx="850392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Application Load Balancer - distributes HTTP(S) traffic across healthy targets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739896"/>
            <a:ext cx="2377440" cy="53035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739896"/>
            <a:ext cx="22860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3240" y="3758184"/>
            <a:ext cx="850392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Simple Storage Service - object storage for files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343400"/>
            <a:ext cx="2377440" cy="53035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4343400"/>
            <a:ext cx="22860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CloudFront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63240" y="4361688"/>
            <a:ext cx="850392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AWS's CDN - caches and serves content from edge locations worldwide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946904"/>
            <a:ext cx="2377440" cy="53035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4946904"/>
            <a:ext cx="22860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Route 53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63240" y="4965192"/>
            <a:ext cx="850392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AWS's DNS service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550408"/>
            <a:ext cx="2377440" cy="53035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5550408"/>
            <a:ext cx="22860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ACM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63240" y="5568696"/>
            <a:ext cx="850392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AWS Certificate Manager - free, auto-renewing TLS certificates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60175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9900"/>
                </a:solidFill>
                <a:latin typeface="Calibri"/>
              </a:rPr>
              <a:t>GLOSSARY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Glossary - Identity, Access &amp; Ops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2377440" cy="53035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25880"/>
            <a:ext cx="22860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Secrets Manager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1344168"/>
            <a:ext cx="850392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Encrypted storage for credentials/keys, with rotation support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929384"/>
            <a:ext cx="2377440" cy="53035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29384"/>
            <a:ext cx="22860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IAM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1947672"/>
            <a:ext cx="850392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Identity and Access Management - controls who/what can do what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532888"/>
            <a:ext cx="2377440" cy="53035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532888"/>
            <a:ext cx="22860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IAM Role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2551176"/>
            <a:ext cx="850392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An identity a resource (not a person) assumes to get temporary permissions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136392"/>
            <a:ext cx="2377440" cy="53035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136392"/>
            <a:ext cx="22860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SSM (Systems Manager)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40" y="3154680"/>
            <a:ext cx="850392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Remote access &amp; automation - used here for bastion-free DB access and running commands on instances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739896"/>
            <a:ext cx="2377440" cy="53035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739896"/>
            <a:ext cx="22860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EFS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3240" y="3758184"/>
            <a:ext cx="850392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Elastic File System - shared network storage, mountable by multiple instances at once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343400"/>
            <a:ext cx="2377440" cy="53035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4343400"/>
            <a:ext cx="22860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EBS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63240" y="4361688"/>
            <a:ext cx="850392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Elastic Block Store - a virtual disk attached to a single EC2 instance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946904"/>
            <a:ext cx="2377440" cy="53035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4946904"/>
            <a:ext cx="22860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ECR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63240" y="4965192"/>
            <a:ext cx="850392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Elastic Container Registry - AWS's private Docker image registry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550408"/>
            <a:ext cx="2377440" cy="53035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5550408"/>
            <a:ext cx="22860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CloudWatch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63240" y="5568696"/>
            <a:ext cx="850392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AWS's logging and metrics service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60175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9900"/>
                </a:solidFill>
                <a:latin typeface="Calibri"/>
              </a:rPr>
              <a:t>GLOSSARY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Glossary - Terraform &amp; Supporting Tools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2377440" cy="53035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25880"/>
            <a:ext cx="22860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Terraform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1344168"/>
            <a:ext cx="850392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An infrastructure-as-code tool - describes cloud resources in text files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929384"/>
            <a:ext cx="2377440" cy="53035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29384"/>
            <a:ext cx="22860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Terraform 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1947672"/>
            <a:ext cx="850392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Terraform's record of what it has already created, stored remotely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532888"/>
            <a:ext cx="2377440" cy="53035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532888"/>
            <a:ext cx="22860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Terraform Module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2551176"/>
            <a:ext cx="850392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A reusable, self-contained bundle of Terraform resources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136392"/>
            <a:ext cx="2377440" cy="53035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136392"/>
            <a:ext cx="22860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Terraform Plan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40" y="3154680"/>
            <a:ext cx="850392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A dry run showing exactly what would change, before anything happens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739896"/>
            <a:ext cx="2377440" cy="53035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739896"/>
            <a:ext cx="22860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Terraform Apply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3240" y="3758184"/>
            <a:ext cx="850392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Actually making the change described in a plan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343400"/>
            <a:ext cx="2377440" cy="53035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4343400"/>
            <a:ext cx="22860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Docker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63240" y="4361688"/>
            <a:ext cx="850392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Packages an application and its dependencies into a portable "container"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946904"/>
            <a:ext cx="2377440" cy="53035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4946904"/>
            <a:ext cx="22860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OIDC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63240" y="4965192"/>
            <a:ext cx="850392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OpenID Connect - lets GitHub Actions authenticate to AWS without a stored password/key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550408"/>
            <a:ext cx="2377440" cy="53035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5550408"/>
            <a:ext cx="22860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JWT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63240" y="5568696"/>
            <a:ext cx="850392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JSON Web Token - a signed token used here for API authentication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60175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566160"/>
            <a:ext cx="12191695" cy="381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749039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C9D6E8"/>
                </a:solidFill>
                <a:latin typeface="Calibri"/>
              </a:rPr>
              <a:t>infra/README.md has the full, step-by-step build log this deck summarizes -
including every real bug, incident, and cost tradeoff along the way.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60175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</a:rPr>
              <a:t>37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